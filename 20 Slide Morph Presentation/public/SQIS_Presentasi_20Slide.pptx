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8.xml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15.xml"/><Relationship Id="rId6" Type="http://schemas.openxmlformats.org/officeDocument/2006/relationships/slide" Target="slide2.xml"/><Relationship Id="rId7" Type="http://schemas.openxmlformats.org/officeDocument/2006/relationships/slide" Target="slide8.xml"/><Relationship Id="rId8" Type="http://schemas.openxmlformats.org/officeDocument/2006/relationships/slide" Target="slide3.xml"/><Relationship Id="rId9" Type="http://schemas.openxmlformats.org/officeDocument/2006/relationships/slide" Target="slide9.xml"/><Relationship Id="rId10" Type="http://schemas.openxmlformats.org/officeDocument/2006/relationships/slide" Target="slide15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9.xml"/><Relationship Id="rId3" Type="http://schemas.openxmlformats.org/officeDocument/2006/relationships/slide" Target="slide16.xml"/><Relationship Id="rId4" Type="http://schemas.openxmlformats.org/officeDocument/2006/relationships/slide" Target="slide12.xml"/><Relationship Id="rId5" Type="http://schemas.openxmlformats.org/officeDocument/2006/relationships/slide" Target="slide17.xml"/><Relationship Id="rId6" Type="http://schemas.openxmlformats.org/officeDocument/2006/relationships/slide" Target="slide15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914400"/>
            <a:ext cx="4572000" cy="4572000"/>
          </a:xfrm>
          <a:prstGeom prst="ellipse">
            <a:avLst/>
          </a:prstGeom>
          <a:solidFill>
            <a:srgbClr val="00306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731520"/>
            <a:ext cx="73152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12700">
            <a:solidFill>
              <a:srgbClr val="00C8E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777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QUALITY INSPECTION SYSTEM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17320" y="10058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Makanan / Manufaktur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Digitalisasi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548640" y="2331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</a:t>
            </a:r>
            <a:endParaRPr lang="en-US" sz="520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1645920" cy="27432"/>
          </a:xfrm>
          <a:prstGeom prst="rect">
            <a:avLst>
              <a:gd name="adj" fmla="val 66667"/>
            </a:avLst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3154680"/>
            <a:ext cx="1371600" cy="27432"/>
          </a:xfrm>
          <a:prstGeom prst="rect">
            <a:avLst>
              <a:gd name="adj" fmla="val 6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291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proses inspeksi QC dari 3 form kertas manual menjadi platform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real-time terintegrasi menggunakan framework DMAIC.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2331720" cy="274320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508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69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3 Form Digitized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17520" y="4069080"/>
            <a:ext cx="2331720" cy="274320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508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4069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8 Mesin Real-time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4069080"/>
            <a:ext cx="2331720" cy="274320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508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4069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Supervisor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955280" y="4069080"/>
            <a:ext cx="2331720" cy="274320"/>
          </a:xfrm>
          <a:prstGeom prst="rect">
            <a:avLst>
              <a:gd name="adj" fmla="val 50000"/>
            </a:avLst>
          </a:prstGeom>
          <a:solidFill>
            <a:srgbClr val="0A1F3D"/>
          </a:solidFill>
          <a:ln w="508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4069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FSSC 22000 Ready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4572000"/>
            <a:ext cx="2011680" cy="457200"/>
          </a:xfrm>
          <a:prstGeom prst="rect">
            <a:avLst>
              <a:gd name="adj" fmla="val 20000"/>
            </a:avLst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3" name="Text 41">
            <a:hlinkClick r:id="rId1" tooltip="" action="ppaction://hlinksldjump"/>
          </p:cNvPr>
          <p:cNvSpPr/>
          <p:nvPr/>
        </p:nvSpPr>
        <p:spPr>
          <a:xfrm>
            <a:off x="548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Mulai Presentasi 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61120" y="1097280"/>
            <a:ext cx="2743200" cy="3474720"/>
          </a:xfrm>
          <a:prstGeom prst="rect">
            <a:avLst>
              <a:gd name="adj" fmla="val 3333"/>
            </a:avLst>
          </a:prstGeom>
          <a:solidFill>
            <a:srgbClr val="071428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961120" y="1097280"/>
            <a:ext cx="2743200" cy="365760"/>
          </a:xfrm>
          <a:prstGeom prst="rect">
            <a:avLst>
              <a:gd name="adj" fmla="val 25000"/>
            </a:avLst>
          </a:prstGeom>
          <a:solidFill>
            <a:srgbClr val="0A1F3D"/>
          </a:solidFill>
          <a:ln w="6350">
            <a:solidFill>
              <a:srgbClr val="00C8E8">
                <a:alpha val="2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0" y="1170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sqis · dashboard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144000" y="1600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Inspeksi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55680" y="1600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Selesai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155680" y="1920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4400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Diperiksa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155680" y="2240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OFF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155680" y="2560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20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029200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Latar Belakang Masalah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inefisiensi QC manual — 3 form kertas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11640312" cy="594360"/>
          </a:xfrm>
          <a:prstGeom prst="rect">
            <a:avLst>
              <a:gd name="adj" fmla="val 12308"/>
            </a:avLst>
          </a:prstGeom>
          <a:solidFill>
            <a:srgbClr val="001830"/>
          </a:solidFill>
          <a:ln w="762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217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80467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QC Packaging saat ini bergantung pada 3 form kertas terpisah. Hal ini menimbulkan bottleneck waktu, risiko kehilangan data, serta keterlambatan respon atas ketidaksesuaian di lini produksi.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280160"/>
            <a:ext cx="36576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128016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Kertas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terintegrasi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06240" y="1280160"/>
            <a:ext cx="36576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0624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52120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Menit / Shift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1208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tunggu approval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138160" y="1280160"/>
            <a:ext cx="36576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38160" y="13258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91440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monitoring real-time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2331720"/>
            <a:ext cx="3657600" cy="2194560"/>
          </a:xfrm>
          <a:prstGeom prst="rect">
            <a:avLst>
              <a:gd name="adj" fmla="val 4167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4114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Form Kertas Manual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3337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Harian QC, Setting Mesin, Log Sampel — terpisah dan tidak terintegrasi satu sama lain.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4434840"/>
            <a:ext cx="3108960" cy="27432"/>
          </a:xfrm>
          <a:prstGeom prst="rect">
            <a:avLst>
              <a:gd name="adj" fmla="val 6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2331720"/>
            <a:ext cx="3657600" cy="2194560"/>
          </a:xfrm>
          <a:prstGeom prst="rect">
            <a:avLst>
              <a:gd name="adj" fmla="val 4167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3434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434340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Waktu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43400" y="3337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dan rekap data membutuhkan hingga 120 menit per shift — non-value-added time.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43400" y="4434840"/>
            <a:ext cx="3108960" cy="27432"/>
          </a:xfrm>
          <a:prstGeom prst="rect">
            <a:avLst>
              <a:gd name="adj" fmla="val 6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2331720"/>
            <a:ext cx="3657600" cy="2194560"/>
          </a:xfrm>
          <a:prstGeom prst="rect">
            <a:avLst>
              <a:gd name="adj" fmla="val 4167"/>
            </a:avLst>
          </a:prstGeom>
          <a:solidFill>
            <a:srgbClr val="0A1F3D"/>
          </a:solidFill>
          <a:ln w="635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2753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827532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Human Error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75320" y="3337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manual berpotensi kehilangan data atau kesalahan input di 8 mesin setiap shift.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275320" y="4434840"/>
            <a:ext cx="3108960" cy="27432"/>
          </a:xfrm>
          <a:prstGeom prst="rect">
            <a:avLst>
              <a:gd name="adj" fmla="val 6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" y="4663440"/>
            <a:ext cx="11640312" cy="502920"/>
          </a:xfrm>
          <a:prstGeom prst="rect">
            <a:avLst>
              <a:gd name="adj" fmla="val 18182"/>
            </a:avLst>
          </a:prstGeom>
          <a:solidFill>
            <a:srgbClr val="071428"/>
          </a:solidFill>
          <a:ln w="6350">
            <a:solidFill>
              <a:srgbClr val="0088A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5720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Diperlukan solusi digitalisasi sistemik berbasis teknologi yang menjawab semua dimensi 5M+1E sekaligus.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241280" y="4736592"/>
            <a:ext cx="1645920" cy="347472"/>
          </a:xfrm>
          <a:prstGeom prst="rect">
            <a:avLst>
              <a:gd name="adj" fmla="val 21053"/>
            </a:avLst>
          </a:prstGeom>
          <a:solidFill>
            <a:srgbClr val="0A1F3D"/>
          </a:solidFill>
          <a:ln w="7620">
            <a:solidFill>
              <a:srgbClr val="00C8E8">
                <a:alpha val="40000"/>
              </a:srgbClr>
            </a:solidFill>
            <a:prstDash val="solid"/>
          </a:ln>
        </p:spPr>
      </p:sp>
      <p:sp>
        <p:nvSpPr>
          <p:cNvPr id="62" name="Text 60">
            <a:hlinkClick r:id="rId1" tooltip="" action="ppaction://hlinksldjump"/>
          </p:cNvPr>
          <p:cNvSpPr/>
          <p:nvPr/>
        </p:nvSpPr>
        <p:spPr>
          <a:xfrm>
            <a:off x="10241280" y="4736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Lihat DMAIC →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20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48072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Text 83">
            <a:hlinkClick r:id="rId2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Akar Masalah — Fishbone Diagram 5M+1E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cabang untuk Deep Dive detail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10332720" cy="0"/>
          </a:xfrm>
          <a:prstGeom prst="line">
            <a:avLst/>
          </a:prstGeom>
          <a:noFill/>
          <a:ln w="31750">
            <a:solidFill>
              <a:srgbClr val="00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0" y="3246120"/>
            <a:ext cx="731520" cy="457200"/>
          </a:xfrm>
          <a:prstGeom prst="rect">
            <a:avLst>
              <a:gd name="adj" fmla="val 12000"/>
            </a:avLst>
          </a:prstGeom>
          <a:solidFill>
            <a:srgbClr val="0A1F3D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3246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Inefisiensi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Manual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0" y="2194560"/>
            <a:ext cx="731520" cy="1280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1463040"/>
            <a:ext cx="1645920" cy="502920"/>
          </a:xfrm>
          <a:prstGeom prst="rect">
            <a:avLst>
              <a:gd name="adj" fmla="val 14545"/>
            </a:avLst>
          </a:prstGeom>
          <a:solidFill>
            <a:srgbClr val="0A1F3D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011680" y="2103120"/>
            <a:ext cx="-365760" cy="0"/>
          </a:xfrm>
          <a:prstGeom prst="line">
            <a:avLst/>
          </a:prstGeom>
          <a:noFill/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194560" y="1828800"/>
            <a:ext cx="-365760" cy="0"/>
          </a:xfrm>
          <a:prstGeom prst="line">
            <a:avLst/>
          </a:prstGeom>
          <a:noFill/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1664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Kelelahan operator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377440" y="1554480"/>
            <a:ext cx="-365760" cy="0"/>
          </a:xfrm>
          <a:prstGeom prst="line">
            <a:avLst/>
          </a:prstGeom>
          <a:noFill/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14081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Kurang training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9200" y="2194560"/>
            <a:ext cx="731520" cy="128016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1463040"/>
            <a:ext cx="1645920" cy="502920"/>
          </a:xfrm>
          <a:prstGeom prst="rect">
            <a:avLst>
              <a:gd name="adj" fmla="val 14545"/>
            </a:avLst>
          </a:prstGeom>
          <a:solidFill>
            <a:srgbClr val="0A1F3D"/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2103120"/>
            <a:ext cx="-365760" cy="0"/>
          </a:xfrm>
          <a:prstGeom prst="line">
            <a:avLst/>
          </a:prstGeom>
          <a:noFill/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manual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937760" y="1828800"/>
            <a:ext cx="-365760" cy="0"/>
          </a:xfrm>
          <a:prstGeom prst="line">
            <a:avLst/>
          </a:prstGeom>
          <a:noFill/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1664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lambat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120640" y="1554480"/>
            <a:ext cx="-365760" cy="0"/>
          </a:xfrm>
          <a:prstGeom prst="line">
            <a:avLst/>
          </a:prstGeom>
          <a:noFill/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14081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tidak update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772400" y="2194560"/>
            <a:ext cx="731520" cy="12801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0" y="1463040"/>
            <a:ext cx="1645920" cy="502920"/>
          </a:xfrm>
          <a:prstGeom prst="rect">
            <a:avLst>
              <a:gd name="adj" fmla="val 14545"/>
            </a:avLst>
          </a:prstGeom>
          <a:solidFill>
            <a:srgbClr val="0A1F3D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98080" y="2103120"/>
            <a:ext cx="-36576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real-time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680960" y="1828800"/>
            <a:ext cx="-36576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1664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manual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863840" y="1554480"/>
            <a:ext cx="-36576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14081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terintegrasi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286000" y="3474720"/>
            <a:ext cx="731520" cy="128016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8800" y="4892040"/>
            <a:ext cx="1645920" cy="502920"/>
          </a:xfrm>
          <a:prstGeom prst="rect">
            <a:avLst>
              <a:gd name="adj" fmla="val 14545"/>
            </a:avLst>
          </a:prstGeom>
          <a:solidFill>
            <a:srgbClr val="0A1F3D"/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280160" y="4663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Variasi bahan baku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371600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ter-track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463040" y="5120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life manual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029200" y="3474720"/>
            <a:ext cx="731520" cy="128016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0" y="4892040"/>
            <a:ext cx="1645920" cy="502920"/>
          </a:xfrm>
          <a:prstGeom prst="rect">
            <a:avLst>
              <a:gd name="adj" fmla="val 14545"/>
            </a:avLst>
          </a:prstGeom>
          <a:solidFill>
            <a:srgbClr val="0A1F3D"/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023360" y="4663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manual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114800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 sulit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206240" y="5120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tidak terkalibrasi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772400" y="3474720"/>
            <a:ext cx="731520" cy="128016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0" y="4892040"/>
            <a:ext cx="1645920" cy="502920"/>
          </a:xfrm>
          <a:prstGeom prst="rect">
            <a:avLst>
              <a:gd name="adj" fmla="val 14545"/>
            </a:avLst>
          </a:prstGeom>
          <a:solidFill>
            <a:srgbClr val="0A1F3D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0" y="4892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766560" y="4663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basah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858000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rusak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949440" y="5120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Suhu tidak tercatat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74320" y="5943600"/>
            <a:ext cx="5669280" cy="347472"/>
          </a:xfrm>
          <a:prstGeom prst="rect">
            <a:avLst>
              <a:gd name="adj" fmla="val 21053"/>
            </a:avLst>
          </a:prstGeom>
          <a:solidFill>
            <a:srgbClr val="001838"/>
          </a:solidFill>
          <a:ln w="1016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78" name="Text 76">
            <a:hlinkClick r:id="rId1" tooltip="" action="ppaction://hlinksldjump"/>
          </p:cNvPr>
          <p:cNvSpPr/>
          <p:nvPr/>
        </p:nvSpPr>
        <p:spPr>
          <a:xfrm>
            <a:off x="274320" y="59436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Deep Dive: Man / Method / Machine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17920" y="5943600"/>
            <a:ext cx="5669280" cy="347472"/>
          </a:xfrm>
          <a:prstGeom prst="rect">
            <a:avLst>
              <a:gd name="adj" fmla="val 21053"/>
            </a:avLst>
          </a:prstGeom>
          <a:solidFill>
            <a:srgbClr val="001822"/>
          </a:solidFill>
          <a:ln w="1016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80" name="Text 78">
            <a:hlinkClick r:id="rId2" tooltip="" action="ppaction://hlinksldjump"/>
          </p:cNvPr>
          <p:cNvSpPr/>
          <p:nvPr/>
        </p:nvSpPr>
        <p:spPr>
          <a:xfrm>
            <a:off x="6217920" y="59436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Deep Dive: Material / Measurement / Environment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20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266944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3" name="Text 101">
            <a:hlinkClick r:id="rId3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Fishbone: Man, Method &amp; Machine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— Cabang Atas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3749040" cy="5303520"/>
          </a:xfrm>
          <a:prstGeom prst="rect">
            <a:avLst>
              <a:gd name="adj" fmla="val 2439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594360"/>
            <a:ext cx="3749040" cy="685800"/>
          </a:xfrm>
          <a:prstGeom prst="rect">
            <a:avLst>
              <a:gd name="adj" fmla="val 13333"/>
            </a:avLst>
          </a:prstGeom>
          <a:solidFill>
            <a:srgbClr val="2563EB">
              <a:alpha val="13000"/>
            </a:srgbClr>
          </a:solidFill>
          <a:ln w="635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6217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AKAR MASALAH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153619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lelah setelah shift panjang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3134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manual tidak konsisten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090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SOP tidak terdokumentasi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8679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person risk — bergantung 1 orang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5742432"/>
            <a:ext cx="3200400" cy="27432"/>
          </a:xfrm>
          <a:prstGeom prst="rect">
            <a:avLst>
              <a:gd name="adj" fmla="val 6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51960" y="594360"/>
            <a:ext cx="3749040" cy="5303520"/>
          </a:xfrm>
          <a:prstGeom prst="rect">
            <a:avLst>
              <a:gd name="adj" fmla="val 2439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51960" y="594360"/>
            <a:ext cx="3749040" cy="685800"/>
          </a:xfrm>
          <a:prstGeom prst="rect">
            <a:avLst>
              <a:gd name="adj" fmla="val 13333"/>
            </a:avLst>
          </a:prstGeom>
          <a:solidFill>
            <a:srgbClr val="8B5CF6">
              <a:alpha val="13000"/>
            </a:srgbClr>
          </a:solidFill>
          <a:ln w="635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6217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84632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4632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AKAR MASALAH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434840" y="153619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form kertas terpisah tidak ter-link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231343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supervisor harus hadir fisik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34840" y="309067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Prosedur eskalasi temuan NG lambat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34840" y="38679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format standar yang seragam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434840" y="5742432"/>
            <a:ext cx="3200400" cy="27432"/>
          </a:xfrm>
          <a:prstGeom prst="rect">
            <a:avLst>
              <a:gd name="adj" fmla="val 6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594360"/>
            <a:ext cx="3749040" cy="5303520"/>
          </a:xfrm>
          <a:prstGeom prst="rect">
            <a:avLst>
              <a:gd name="adj" fmla="val 2439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229600" y="594360"/>
            <a:ext cx="3749040" cy="685800"/>
          </a:xfrm>
          <a:prstGeom prst="rect">
            <a:avLst>
              <a:gd name="adj" fmla="val 13333"/>
            </a:avLst>
          </a:prstGeom>
          <a:solidFill>
            <a:srgbClr val="F59E0B">
              <a:alpha val="13000"/>
            </a:srgbClr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6217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82396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2396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AKAR MASALAH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412480" y="153619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mesin tanpa koneksi data real-time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412480" y="23134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4964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suhu &amp; kecepatan manual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12480" y="30906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4964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peringatan otomatis deviasi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412480" y="38679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4964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 parameter tidak tersimpan digital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412480" y="5742432"/>
            <a:ext cx="3200400" cy="27432"/>
          </a:xfrm>
          <a:prstGeom prst="rect">
            <a:avLst>
              <a:gd name="adj" fmla="val 6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5943600"/>
            <a:ext cx="5669280" cy="347472"/>
          </a:xfrm>
          <a:prstGeom prst="rect">
            <a:avLst>
              <a:gd name="adj" fmla="val 21053"/>
            </a:avLst>
          </a:prstGeom>
          <a:solidFill>
            <a:srgbClr val="071428"/>
          </a:solidFill>
          <a:ln w="508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72" name="Text 70">
            <a:hlinkClick r:id="rId1" tooltip="" action="ppaction://hlinksldjump"/>
          </p:cNvPr>
          <p:cNvSpPr/>
          <p:nvPr/>
        </p:nvSpPr>
        <p:spPr>
          <a:xfrm>
            <a:off x="274320" y="59436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Kembali ke Fishbone Lengkap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17920" y="5943600"/>
            <a:ext cx="5669280" cy="347472"/>
          </a:xfrm>
          <a:prstGeom prst="rect">
            <a:avLst>
              <a:gd name="adj" fmla="val 21053"/>
            </a:avLst>
          </a:prstGeom>
          <a:solidFill>
            <a:srgbClr val="001822"/>
          </a:solidFill>
          <a:ln w="1016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74" name="Text 72">
            <a:hlinkClick r:id="rId2" tooltip="" action="ppaction://hlinksldjump"/>
          </p:cNvPr>
          <p:cNvSpPr/>
          <p:nvPr/>
        </p:nvSpPr>
        <p:spPr>
          <a:xfrm>
            <a:off x="6217920" y="59436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Lanjut: Material / Measurement / Environment →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85816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Text 95">
            <a:hlinkClick r:id="rId3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Fishbone: Material, Measurement &amp; Environment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— Cabang Bawah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3749040" cy="5303520"/>
          </a:xfrm>
          <a:prstGeom prst="rect">
            <a:avLst>
              <a:gd name="adj" fmla="val 2439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594360"/>
            <a:ext cx="3749040" cy="685800"/>
          </a:xfrm>
          <a:prstGeom prst="rect">
            <a:avLst>
              <a:gd name="adj" fmla="val 13333"/>
            </a:avLst>
          </a:prstGeom>
          <a:solidFill>
            <a:srgbClr val="22C55E">
              <a:alpha val="13000"/>
            </a:srgbClr>
          </a:solidFill>
          <a:ln w="635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6217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868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AKAR MASALAH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15361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Variasi bahan baku dari supplier berbeda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31343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tracking per batch bahan masuk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09067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kadar air berbeda per produk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86791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life bahan belum terdigitalisasi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5742432"/>
            <a:ext cx="3200400" cy="27432"/>
          </a:xfrm>
          <a:prstGeom prst="rect">
            <a:avLst>
              <a:gd name="adj" fmla="val 6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51960" y="594360"/>
            <a:ext cx="3749040" cy="5303520"/>
          </a:xfrm>
          <a:prstGeom prst="rect">
            <a:avLst>
              <a:gd name="adj" fmla="val 2439"/>
            </a:avLst>
          </a:prstGeom>
          <a:solidFill>
            <a:srgbClr val="0A1F3D"/>
          </a:solidFill>
          <a:ln w="635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51960" y="594360"/>
            <a:ext cx="3749040" cy="685800"/>
          </a:xfrm>
          <a:prstGeom prst="rect">
            <a:avLst>
              <a:gd name="adj" fmla="val 13333"/>
            </a:avLst>
          </a:prstGeom>
          <a:solidFill>
            <a:srgbClr val="06B6D4">
              <a:alpha val="13000"/>
            </a:srgbClr>
          </a:solidFill>
          <a:ln w="63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6217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84632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4632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AKAR MASALAH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434840" y="1536192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akurasi alat ukur manual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2313432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 kadar air per sampel sulit dicari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34840" y="3090672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 higrometer tidak terkalibrasi rutin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34840" y="3867912"/>
            <a:ext cx="73152" cy="7315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pengukuran tidak ter-link ke batch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434840" y="5742432"/>
            <a:ext cx="3200400" cy="27432"/>
          </a:xfrm>
          <a:prstGeom prst="rect">
            <a:avLst>
              <a:gd name="adj" fmla="val 6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594360"/>
            <a:ext cx="3749040" cy="5303520"/>
          </a:xfrm>
          <a:prstGeom prst="rect">
            <a:avLst>
              <a:gd name="adj" fmla="val 2439"/>
            </a:avLst>
          </a:prstGeom>
          <a:solidFill>
            <a:srgbClr val="0A1F3D"/>
          </a:solidFill>
          <a:ln w="635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229600" y="594360"/>
            <a:ext cx="3749040" cy="685800"/>
          </a:xfrm>
          <a:prstGeom prst="rect">
            <a:avLst>
              <a:gd name="adj" fmla="val 13333"/>
            </a:avLst>
          </a:prstGeom>
          <a:solidFill>
            <a:srgbClr val="F97316">
              <a:alpha val="13000"/>
            </a:srgbClr>
          </a:solidFill>
          <a:ln w="635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0" y="62179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82396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2396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AKAR MASALAH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412480" y="153619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packaging basah &amp; lembap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412480" y="231343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4964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kertas rusak terkena air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412480" y="309067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4964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Suhu ruangan tidak tercatat per shift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412480" y="3867912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4964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lingkungan tidak terkorelasi ke 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412480" y="5742432"/>
            <a:ext cx="3200400" cy="27432"/>
          </a:xfrm>
          <a:prstGeom prst="rect">
            <a:avLst>
              <a:gd name="adj" fmla="val 6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5943600"/>
            <a:ext cx="5669280" cy="347472"/>
          </a:xfrm>
          <a:prstGeom prst="rect">
            <a:avLst>
              <a:gd name="adj" fmla="val 21053"/>
            </a:avLst>
          </a:prstGeom>
          <a:solidFill>
            <a:srgbClr val="071428"/>
          </a:solidFill>
          <a:ln w="508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72" name="Text 70">
            <a:hlinkClick r:id="rId1" tooltip="" action="ppaction://hlinksldjump"/>
          </p:cNvPr>
          <p:cNvSpPr/>
          <p:nvPr/>
        </p:nvSpPr>
        <p:spPr>
          <a:xfrm>
            <a:off x="274320" y="59436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Kembali ke Fishbone Lengkap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17920" y="5943600"/>
            <a:ext cx="5669280" cy="347472"/>
          </a:xfrm>
          <a:prstGeom prst="rect">
            <a:avLst>
              <a:gd name="adj" fmla="val 21053"/>
            </a:avLst>
          </a:prstGeom>
          <a:solidFill>
            <a:srgbClr val="001820"/>
          </a:solidFill>
          <a:ln w="10160">
            <a:solidFill>
              <a:srgbClr val="00C8E8">
                <a:alpha val="50000"/>
              </a:srgbClr>
            </a:solidFill>
            <a:prstDash val="solid"/>
          </a:ln>
        </p:spPr>
      </p:sp>
      <p:sp>
        <p:nvSpPr>
          <p:cNvPr id="74" name="Text 72">
            <a:hlinkClick r:id="rId2" tooltip="" action="ppaction://hlinksldjump"/>
          </p:cNvPr>
          <p:cNvSpPr/>
          <p:nvPr/>
        </p:nvSpPr>
        <p:spPr>
          <a:xfrm>
            <a:off x="6217920" y="59436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Lanjut: Pemetaan 5W+1H →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04688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Text 95">
            <a:hlinkClick r:id="rId3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Masalah 5W + 1H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 &amp; scope permasalahan QC inefisiensi manual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62179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621792"/>
            <a:ext cx="3749040" cy="548640"/>
          </a:xfrm>
          <a:prstGeom prst="rect">
            <a:avLst>
              <a:gd name="adj" fmla="val 13333"/>
            </a:avLst>
          </a:prstGeom>
          <a:solidFill>
            <a:srgbClr val="2563EB">
              <a:alpha val="8000"/>
            </a:srgbClr>
          </a:solidFill>
          <a:ln w="508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667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4672" y="731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11480" y="1280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pencatatan inspeksi QC manual di lini packaging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19933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form kertas: Laporan Harian QC, Setting Mesin, Log Sampel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51960" y="62179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51960" y="621792"/>
            <a:ext cx="3749040" cy="548640"/>
          </a:xfrm>
          <a:prstGeom prst="rect">
            <a:avLst>
              <a:gd name="adj" fmla="val 13333"/>
            </a:avLst>
          </a:prstGeom>
          <a:solidFill>
            <a:srgbClr val="8B5CF6">
              <a:alpha val="8000"/>
            </a:srgbClr>
          </a:solidFill>
          <a:ln w="508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667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82312" y="731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389120" y="1280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konvensional menciptakan inefisiensi &amp; risiko kesalahan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89120" y="19933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validasi otomatis, duplikasi kerja, approval terlambat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62179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0" y="621792"/>
            <a:ext cx="3749040" cy="548640"/>
          </a:xfrm>
          <a:prstGeom prst="rect">
            <a:avLst>
              <a:gd name="adj" fmla="val 13333"/>
            </a:avLst>
          </a:prstGeom>
          <a:solidFill>
            <a:srgbClr val="F59E0B">
              <a:alpha val="8000"/>
            </a:srgbClr>
          </a:solidFill>
          <a:ln w="508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667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759952" y="731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366760" y="1280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 Packaging — Area Produksi (kondisi basah / lembap)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66760" y="19933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mesin sealer di 3 lini aktif, ruang supervisor terpisah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36499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364992"/>
            <a:ext cx="3749040" cy="548640"/>
          </a:xfrm>
          <a:prstGeom prst="rect">
            <a:avLst>
              <a:gd name="adj" fmla="val 13333"/>
            </a:avLst>
          </a:prstGeom>
          <a:solidFill>
            <a:srgbClr val="22C55E">
              <a:alpha val="8000"/>
            </a:srgbClr>
          </a:solidFill>
          <a:ln w="508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04672" y="3474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11480" y="4023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shift (3× per hari), setiap inspeksi QC dilakukan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47365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terjadi saat pergantian shift &amp; saat approval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251960" y="336499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251960" y="3364992"/>
            <a:ext cx="3749040" cy="548640"/>
          </a:xfrm>
          <a:prstGeom prst="rect">
            <a:avLst>
              <a:gd name="adj" fmla="val 13333"/>
            </a:avLst>
          </a:prstGeom>
          <a:solidFill>
            <a:srgbClr val="06B6D4">
              <a:alpha val="8000"/>
            </a:srgbClr>
          </a:solidFill>
          <a:ln w="508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5196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782312" y="3474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389120" y="4023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Inspector, Supervisor QC, Tim Produksi, Management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89120" y="47365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Inspector isi form → Supervisor approval → Produksi terima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229600" y="336499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229600" y="3364992"/>
            <a:ext cx="3749040" cy="548640"/>
          </a:xfrm>
          <a:prstGeom prst="rect">
            <a:avLst>
              <a:gd name="adj" fmla="val 13333"/>
            </a:avLst>
          </a:prstGeom>
          <a:solidFill>
            <a:srgbClr val="F97316">
              <a:alpha val="8000"/>
            </a:srgbClr>
          </a:solidFill>
          <a:ln w="508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759952" y="3474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8366760" y="4023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SQIS: platform digital tablet + cloud DB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366760" y="473659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DMAIC, pilot lini 1, rollout bertahap 16 minggu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20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23560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Text 85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Kerja DMAIC — Interactive Main Hub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setiap tahap untuk navigasi langsung ke slide detail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594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60320" y="1371600"/>
            <a:ext cx="1645920" cy="164592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0C8E8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DMAIC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603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88720" y="731520"/>
            <a:ext cx="4389120" cy="365760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0" y="914400"/>
            <a:ext cx="1005840" cy="1005840"/>
          </a:xfrm>
          <a:prstGeom prst="ellipse">
            <a:avLst/>
          </a:prstGeom>
          <a:solidFill>
            <a:srgbClr val="2563EB">
              <a:alpha val="13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10058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828800" y="15087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750" dirty="0"/>
          </a:p>
        </p:txBody>
      </p:sp>
      <p:sp>
        <p:nvSpPr>
          <p:cNvPr id="37" name="Shape 35">
            <a:hlinkClick r:id="rId1" tooltip="" action="ppaction://hlinksldjump"/>
          </p:cNvPr>
          <p:cNvSpPr/>
          <p:nvPr/>
        </p:nvSpPr>
        <p:spPr>
          <a:xfrm>
            <a:off x="1828800" y="914400"/>
            <a:ext cx="100584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0" y="640080"/>
            <a:ext cx="1005840" cy="1005840"/>
          </a:xfrm>
          <a:prstGeom prst="ellipse">
            <a:avLst/>
          </a:prstGeom>
          <a:solidFill>
            <a:srgbClr val="06B6D4">
              <a:alpha val="13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731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474720" y="1234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750" dirty="0"/>
          </a:p>
        </p:txBody>
      </p:sp>
      <p:sp>
        <p:nvSpPr>
          <p:cNvPr id="41" name="Shape 39">
            <a:hlinkClick r:id="rId2" tooltip="" action="ppaction://hlinksldjump"/>
          </p:cNvPr>
          <p:cNvSpPr/>
          <p:nvPr/>
        </p:nvSpPr>
        <p:spPr>
          <a:xfrm>
            <a:off x="3474720" y="640080"/>
            <a:ext cx="100584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645920"/>
            <a:ext cx="1005840" cy="1005840"/>
          </a:xfrm>
          <a:prstGeom prst="ellipse">
            <a:avLst/>
          </a:prstGeom>
          <a:solidFill>
            <a:srgbClr val="8B5CF6">
              <a:alpha val="13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7373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754880" y="2240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750" dirty="0"/>
          </a:p>
        </p:txBody>
      </p:sp>
      <p:sp>
        <p:nvSpPr>
          <p:cNvPr id="45" name="Shape 43">
            <a:hlinkClick r:id="rId3" tooltip="" action="ppaction://hlinksldjump"/>
          </p:cNvPr>
          <p:cNvSpPr/>
          <p:nvPr/>
        </p:nvSpPr>
        <p:spPr>
          <a:xfrm>
            <a:off x="4754880" y="1645920"/>
            <a:ext cx="100584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2926080"/>
            <a:ext cx="1005840" cy="1005840"/>
          </a:xfrm>
          <a:prstGeom prst="ellipse">
            <a:avLst/>
          </a:prstGeom>
          <a:solidFill>
            <a:srgbClr val="22C55E">
              <a:alpha val="13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3017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023360" y="3520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750" dirty="0"/>
          </a:p>
        </p:txBody>
      </p:sp>
      <p:sp>
        <p:nvSpPr>
          <p:cNvPr id="49" name="Shape 47">
            <a:hlinkClick r:id="rId4" tooltip="" action="ppaction://hlinksldjump"/>
          </p:cNvPr>
          <p:cNvSpPr/>
          <p:nvPr/>
        </p:nvSpPr>
        <p:spPr>
          <a:xfrm>
            <a:off x="4023360" y="2926080"/>
            <a:ext cx="100584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60320" y="2926080"/>
            <a:ext cx="1005840" cy="1005840"/>
          </a:xfrm>
          <a:prstGeom prst="ellipse">
            <a:avLst/>
          </a:prstGeom>
          <a:solidFill>
            <a:srgbClr val="F59E0B">
              <a:alpha val="13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0" y="3017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2560320" y="3520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750" dirty="0"/>
          </a:p>
        </p:txBody>
      </p:sp>
      <p:sp>
        <p:nvSpPr>
          <p:cNvPr id="53" name="Shape 51">
            <a:hlinkClick r:id="rId5" tooltip="" action="ppaction://hlinksldjump"/>
          </p:cNvPr>
          <p:cNvSpPr/>
          <p:nvPr/>
        </p:nvSpPr>
        <p:spPr>
          <a:xfrm>
            <a:off x="2560320" y="2926080"/>
            <a:ext cx="1005840" cy="1005840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58000" y="640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KLIK TAHAP UNTUK NAVIGASI LANGSUNG →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58000" y="914400"/>
            <a:ext cx="50292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914400"/>
            <a:ext cx="777240" cy="914400"/>
          </a:xfrm>
          <a:prstGeom prst="rect">
            <a:avLst>
              <a:gd name="adj" fmla="val 9412"/>
            </a:avLst>
          </a:prstGeom>
          <a:solidFill>
            <a:srgbClr val="2563EB">
              <a:alpha val="13000"/>
            </a:srgbClr>
          </a:solidFill>
          <a:ln w="635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91440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777240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772400" y="1298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Definisi masalah &amp; latar belakang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515600" y="1234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— Executive Summary</a:t>
            </a:r>
            <a:endParaRPr lang="en-US" sz="750" dirty="0"/>
          </a:p>
        </p:txBody>
      </p:sp>
      <p:sp>
        <p:nvSpPr>
          <p:cNvPr id="61" name="Shape 59">
            <a:hlinkClick r:id="rId6" tooltip="" action="ppaction://hlinksldjump"/>
          </p:cNvPr>
          <p:cNvSpPr/>
          <p:nvPr/>
        </p:nvSpPr>
        <p:spPr>
          <a:xfrm>
            <a:off x="6858000" y="914400"/>
            <a:ext cx="5029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1956816"/>
            <a:ext cx="50292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58000" y="1956816"/>
            <a:ext cx="777240" cy="914400"/>
          </a:xfrm>
          <a:prstGeom prst="rect">
            <a:avLst>
              <a:gd name="adj" fmla="val 9412"/>
            </a:avLst>
          </a:prstGeom>
          <a:solidFill>
            <a:srgbClr val="06B6D4">
              <a:alpha val="13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0" y="1956816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65" name="Text 63"/>
          <p:cNvSpPr/>
          <p:nvPr/>
        </p:nvSpPr>
        <p:spPr>
          <a:xfrm>
            <a:off x="777240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7772400" y="23408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&amp; pengukuran baseline Lead Time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515600" y="22768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— Value Stream Mapping</a:t>
            </a:r>
            <a:endParaRPr lang="en-US" sz="750" dirty="0"/>
          </a:p>
        </p:txBody>
      </p:sp>
      <p:sp>
        <p:nvSpPr>
          <p:cNvPr id="68" name="Shape 66">
            <a:hlinkClick r:id="rId7" tooltip="" action="ppaction://hlinksldjump"/>
          </p:cNvPr>
          <p:cNvSpPr/>
          <p:nvPr/>
        </p:nvSpPr>
        <p:spPr>
          <a:xfrm>
            <a:off x="6858000" y="1956816"/>
            <a:ext cx="5029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58000" y="2999232"/>
            <a:ext cx="50292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58000" y="2999232"/>
            <a:ext cx="777240" cy="914400"/>
          </a:xfrm>
          <a:prstGeom prst="rect">
            <a:avLst>
              <a:gd name="adj" fmla="val 9412"/>
            </a:avLst>
          </a:prstGeom>
          <a:solidFill>
            <a:srgbClr val="8B5CF6">
              <a:alpha val="13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2999232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77724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7724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 5M+1E &amp; analisis akar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0515600" y="3319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— Fishbone Diagram</a:t>
            </a:r>
            <a:endParaRPr lang="en-US" sz="750" dirty="0"/>
          </a:p>
        </p:txBody>
      </p:sp>
      <p:sp>
        <p:nvSpPr>
          <p:cNvPr id="75" name="Shape 73">
            <a:hlinkClick r:id="rId8" tooltip="" action="ppaction://hlinksldjump"/>
          </p:cNvPr>
          <p:cNvSpPr/>
          <p:nvPr/>
        </p:nvSpPr>
        <p:spPr>
          <a:xfrm>
            <a:off x="6858000" y="2999232"/>
            <a:ext cx="5029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58000" y="4041648"/>
            <a:ext cx="50292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858000" y="4041648"/>
            <a:ext cx="777240" cy="914400"/>
          </a:xfrm>
          <a:prstGeom prst="rect">
            <a:avLst>
              <a:gd name="adj" fmla="val 9412"/>
            </a:avLst>
          </a:prstGeom>
          <a:solidFill>
            <a:srgbClr val="22C55E">
              <a:alpha val="13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58000" y="4041648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79" name="Text 77"/>
          <p:cNvSpPr/>
          <p:nvPr/>
        </p:nvSpPr>
        <p:spPr>
          <a:xfrm>
            <a:off x="7772400" y="4151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7772400" y="44256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alur kerja &amp; UI SQIS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515600" y="4361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— Workflow Comparison</a:t>
            </a:r>
            <a:endParaRPr lang="en-US" sz="750" dirty="0"/>
          </a:p>
        </p:txBody>
      </p:sp>
      <p:sp>
        <p:nvSpPr>
          <p:cNvPr id="82" name="Shape 80">
            <a:hlinkClick r:id="rId9" tooltip="" action="ppaction://hlinksldjump"/>
          </p:cNvPr>
          <p:cNvSpPr/>
          <p:nvPr/>
        </p:nvSpPr>
        <p:spPr>
          <a:xfrm>
            <a:off x="6858000" y="4041648"/>
            <a:ext cx="5029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58000" y="5084064"/>
            <a:ext cx="502920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858000" y="5084064"/>
            <a:ext cx="777240" cy="914400"/>
          </a:xfrm>
          <a:prstGeom prst="rect">
            <a:avLst>
              <a:gd name="adj" fmla="val 9412"/>
            </a:avLst>
          </a:prstGeom>
          <a:solidFill>
            <a:srgbClr val="F59E0B">
              <a:alpha val="13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58000" y="5084064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86" name="Text 84"/>
          <p:cNvSpPr/>
          <p:nvPr/>
        </p:nvSpPr>
        <p:spPr>
          <a:xfrm>
            <a:off x="777240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7772400" y="5468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kontrol &amp; role access sistem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10515600" y="54041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— Role Access</a:t>
            </a:r>
            <a:endParaRPr lang="en-US" sz="750" dirty="0"/>
          </a:p>
        </p:txBody>
      </p:sp>
      <p:sp>
        <p:nvSpPr>
          <p:cNvPr id="89" name="Shape 87">
            <a:hlinkClick r:id="rId10" tooltip="" action="ppaction://hlinksldjump"/>
          </p:cNvPr>
          <p:cNvSpPr/>
          <p:nvPr/>
        </p:nvSpPr>
        <p:spPr>
          <a:xfrm>
            <a:off x="6858000" y="5084064"/>
            <a:ext cx="5029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20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742432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Stream Mapping — Current vs Future State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Reduksi Lead Time inspeksi 87.5%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566928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6400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STATE — MANUAL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822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16459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menit per inspeksi shift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594360"/>
            <a:ext cx="5669280" cy="914400"/>
          </a:xfrm>
          <a:prstGeom prst="rect">
            <a:avLst>
              <a:gd name="adj" fmla="val 100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6400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STATE — SQIS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00800" y="822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58952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menit per inspeksi shift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16459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— BOTTLENECK FLOW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1901952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1901952"/>
            <a:ext cx="256032" cy="594360"/>
          </a:xfrm>
          <a:prstGeom prst="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1901952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1947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Tulis form kertas (3 lembar)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19476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2606040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2606040"/>
            <a:ext cx="256032" cy="594360"/>
          </a:xfrm>
          <a:prstGeom prst="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60604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Tunggu supervisor hadir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0" y="2651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310128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3310128"/>
            <a:ext cx="256032" cy="594360"/>
          </a:xfrm>
          <a:prstGeom prst="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310128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" y="33558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tanda tangan fisik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0" y="33558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014216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014216"/>
            <a:ext cx="256032" cy="594360"/>
          </a:xfrm>
          <a:prstGeom prst="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014216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4360" y="40599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Rekap data di komputer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0" y="405993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718304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4718304"/>
            <a:ext cx="256032" cy="594360"/>
          </a:xfrm>
          <a:prstGeom prst="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718304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" y="47640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Distribusi laporan via WA/email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0" y="476402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0" y="5422392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5422392"/>
            <a:ext cx="256032" cy="594360"/>
          </a:xfrm>
          <a:prstGeom prst="rect">
            <a:avLst>
              <a:gd name="adj" fmla="val 2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5422392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94360" y="54681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Arsip fisik &amp; filling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0" y="54681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217920" y="164592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— STREAMLINED SQIS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217920" y="1901952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217920" y="1901952"/>
            <a:ext cx="256032" cy="594360"/>
          </a:xfrm>
          <a:prstGeom prst="rect">
            <a:avLst>
              <a:gd name="adj" fmla="val 2142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0" y="1901952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537960" y="1947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digital via tablet (QR Scan)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607040" y="19476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2606040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217920" y="2606040"/>
            <a:ext cx="256032" cy="594360"/>
          </a:xfrm>
          <a:prstGeom prst="rect">
            <a:avLst>
              <a:gd name="adj" fmla="val 2142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260604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53796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Auto-validasi sistem instan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607040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min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17920" y="3310128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217920" y="3310128"/>
            <a:ext cx="256032" cy="594360"/>
          </a:xfrm>
          <a:prstGeom prst="rect">
            <a:avLst>
              <a:gd name="adj" fmla="val 2142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3310128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537960" y="33558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supervisor real-time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607040" y="33558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min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217920" y="4014216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217920" y="4014216"/>
            <a:ext cx="256032" cy="594360"/>
          </a:xfrm>
          <a:prstGeom prst="rect">
            <a:avLst>
              <a:gd name="adj" fmla="val 2142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4014216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537960" y="40599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e-signature digital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607040" y="405993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217920" y="4718304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217920" y="4718304"/>
            <a:ext cx="256032" cy="594360"/>
          </a:xfrm>
          <a:prstGeom prst="rect">
            <a:avLst>
              <a:gd name="adj" fmla="val 2142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4718304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6537960" y="47640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auto-generate PDF/Excel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0607040" y="476402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min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5422392"/>
            <a:ext cx="566928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6217920" y="5422392"/>
            <a:ext cx="256032" cy="594360"/>
          </a:xfrm>
          <a:prstGeom prst="rect">
            <a:avLst>
              <a:gd name="adj" fmla="val 21429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17920" y="5422392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6537960" y="54681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archive otomatis terenkripsi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0607040" y="54681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min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20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61304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1" name="Text 119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Perbandingan Alur Kerja — Before vs After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Improve: 6 langkah manual → 6 langkah digital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5577840" cy="411480"/>
          </a:xfrm>
          <a:prstGeom prst="rect">
            <a:avLst>
              <a:gd name="adj" fmla="val 22222"/>
            </a:avLst>
          </a:prstGeom>
          <a:solidFill>
            <a:srgbClr val="100010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5943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BEFORE — Manual Konvensional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594360"/>
            <a:ext cx="5577840" cy="411480"/>
          </a:xfrm>
          <a:prstGeom prst="rect">
            <a:avLst>
              <a:gd name="adj" fmla="val 22222"/>
            </a:avLst>
          </a:prstGeom>
          <a:solidFill>
            <a:srgbClr val="001008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5943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AFTER — SQIS Digital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1097280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1097280"/>
            <a:ext cx="292608" cy="731520"/>
          </a:xfrm>
          <a:prstGeom prst="rect">
            <a:avLst>
              <a:gd name="adj" fmla="val 18750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109728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" y="1188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Tulis form QC kertas (3 lembar terpisah)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1097280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9360" y="1097280"/>
            <a:ext cx="292608" cy="731520"/>
          </a:xfrm>
          <a:prstGeom prst="rect">
            <a:avLst>
              <a:gd name="adj" fmla="val 1875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09728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56832" y="1188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Line → Load data batch otomatis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1947672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1947672"/>
            <a:ext cx="292608" cy="731520"/>
          </a:xfrm>
          <a:prstGeom prst="rect">
            <a:avLst>
              <a:gd name="adj" fmla="val 18750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1947672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" y="20391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parameter manual per mesin tanpa validasi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43600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09360" y="1947672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9360" y="1947672"/>
            <a:ext cx="292608" cy="731520"/>
          </a:xfrm>
          <a:prstGeom prst="rect">
            <a:avLst>
              <a:gd name="adj" fmla="val 1875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1947672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56832" y="20391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digital dengan validasi toleransi otomatis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2798064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2798064"/>
            <a:ext cx="292608" cy="731520"/>
          </a:xfrm>
          <a:prstGeom prst="rect">
            <a:avLst>
              <a:gd name="adj" fmla="val 18750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2798064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" y="28895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 kadar air di logbook terpisah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94360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309360" y="2798064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09360" y="2798064"/>
            <a:ext cx="292608" cy="731520"/>
          </a:xfrm>
          <a:prstGeom prst="rect">
            <a:avLst>
              <a:gd name="adj" fmla="val 1875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2798064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56832" y="28895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sampel terhubung ke Sample ID digital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3648456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3648456"/>
            <a:ext cx="292608" cy="731520"/>
          </a:xfrm>
          <a:prstGeom prst="rect">
            <a:avLst>
              <a:gd name="adj" fmla="val 18750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648456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1792" y="37398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Foto/kirim laporan ke supervisor via WA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43600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09360" y="3648456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309360" y="3648456"/>
            <a:ext cx="292608" cy="731520"/>
          </a:xfrm>
          <a:prstGeom prst="rect">
            <a:avLst>
              <a:gd name="adj" fmla="val 1875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3648456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656832" y="37398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Notifikasi real-time langsung ke dashboard supervisor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498848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74320" y="4498848"/>
            <a:ext cx="292608" cy="731520"/>
          </a:xfrm>
          <a:prstGeom prst="rect">
            <a:avLst>
              <a:gd name="adj" fmla="val 18750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4988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21792" y="45902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tanda tangan fisik — butuh hadir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943600" y="4681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309360" y="4498848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309360" y="4498848"/>
            <a:ext cx="292608" cy="731520"/>
          </a:xfrm>
          <a:prstGeom prst="rect">
            <a:avLst>
              <a:gd name="adj" fmla="val 1875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4498848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656832" y="45902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e-signature dari device mana pun, kapan saja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5349240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74320" y="5349240"/>
            <a:ext cx="292608" cy="731520"/>
          </a:xfrm>
          <a:prstGeom prst="rect">
            <a:avLst>
              <a:gd name="adj" fmla="val 18750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534924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21792" y="5440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Rekap &amp; arsip manual di komputer office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94360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309360" y="5349240"/>
            <a:ext cx="5577840" cy="731520"/>
          </a:xfrm>
          <a:prstGeom prst="rect">
            <a:avLst>
              <a:gd name="adj" fmla="val 125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309360" y="5349240"/>
            <a:ext cx="292608" cy="731520"/>
          </a:xfrm>
          <a:prstGeom prst="rect">
            <a:avLst>
              <a:gd name="adj" fmla="val 1875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534924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656832" y="5440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laporan + cloud archive terenkripsi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4320" y="6236208"/>
            <a:ext cx="11640312" cy="347472"/>
          </a:xfrm>
          <a:prstGeom prst="rect">
            <a:avLst>
              <a:gd name="adj" fmla="val 26316"/>
            </a:avLst>
          </a:prstGeom>
          <a:solidFill>
            <a:srgbClr val="071428"/>
          </a:solidFill>
          <a:ln w="6350">
            <a:solidFill>
              <a:srgbClr val="0088A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457200" y="6254496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ini tidak mengubah standar kualitas — hanya mempercepat eksekusi dan memvalidasi input data secara langsung di lapangan.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20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980176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1" name="Text 109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Visual 1: Cek Awal &amp; Validasi Batch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kertas Laporan Harian QC → UI Tablet SQIS Validasi Produk &amp; Batch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EF4444">
              <a:alpha val="8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Form Kertas — Laporan Harian QC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475569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Tanggal: __/__/____  Shift: ___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 ________________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Nomor Batch: ___________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Kode Produk: ____________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— — — — — — — — — — —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Catatan manual, rentan salah tulis,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tidak ada validasi cross-check.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Duplikasi antar 3 form berbeda.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Batch salah tidak terdeteksi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Data hilang/basah/tidak terbaca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3291840"/>
            <a:ext cx="274320" cy="0"/>
          </a:xfrm>
          <a:prstGeom prst="line">
            <a:avLst/>
          </a:prstGeom>
          <a:noFill/>
          <a:ln w="25400">
            <a:solidFill>
              <a:srgbClr val="00C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91072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91072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22C55E">
              <a:alpha val="8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UI Tablet SQIS — Validasi Produk &amp; Batch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28232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SCAN RESULT — QR-LINE-01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65392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Produk: Biskuit Susu (BSK-002)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65392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Batch: 123 ✓ Valid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65392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Running ✓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65392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— — — — — — — — — — 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565392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Batch Valid — Cross-check otomatis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65392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Real-time validasi instan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65392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🚫 Duplicate prevention aktif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565392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Tidak bisa input batch berbeda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65392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QR Scan mencegah salah ketik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99048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Text 79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Visual 2: Setting &amp; Parameter Mesin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Setting Mesin manual → UI Input Parameter 8 Mesin SQIS dengan Auto Alert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EF4444">
              <a:alpha val="8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Form Setting Mesin Manual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475569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1: H=__  V=__  Spd=__  Paraf: _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2: H=__  V=__  Spd=__  Paraf: _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3: H=__  V=__  Spd=__  Paraf: _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4: H=__  V=__  Spd=__  Paraf: _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5: H=__  V=__  Spd=__  Paraf: _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6: H=__  V=__  Spd=__  Paraf: _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7: H=__  V=__  Spd=__  Paraf: _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Mesin 8: H=__  V=__  Spd=__  Paraf: _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Tidak ada alert jika nilai menyimpang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Supervisor tidak bisa pantau real-time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3291840"/>
            <a:ext cx="274320" cy="0"/>
          </a:xfrm>
          <a:prstGeom prst="line">
            <a:avLst/>
          </a:prstGeom>
          <a:noFill/>
          <a:ln w="25400">
            <a:solidFill>
              <a:srgbClr val="00C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91072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91072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06B6D4">
              <a:alpha val="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SQIS — 8 Mesin + Auto Alert Deviasi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28232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M1: H=25  V=25  Spd=25  ✓ OK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65392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M2: H=25  V=25  Spd=25  ✓ OK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65392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M3: H=25  V=25  Spd=25  ✓ OK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65392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M4: H=25  V=55  Spd=25  ⚠ NG (V tinggi)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65392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M5: —  —  —  ⚠ OFF (Maintenance)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565392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M6: H=25  V=25  Spd=5   ⚠ NG (Spd low)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65392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M7: H=25  V=25  Spd=25  ✓ OK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65392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M8: H=25  V=25  Spd=25  ✓ OK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565392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Alert otomatis dikirim ke Supervisor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65392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Peringatan instan saat nilai menyimpang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Text 79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Visual 3: Kadar Air &amp; Sample Management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Logbook kertas sampel → UI Sample Management &amp; Tracking Kadar Air SQIS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EF4444">
              <a:alpha val="8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Logbook Kertas Sampel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475569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Tgl: 16/08/26  Shift 1  QC: Siti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Sampel 1: Kadar Air = 3.2%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Sampel 2: Kadar Air = 2.8%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Sampel 3: Kadar Air = 3.5%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Penelusuran histori sulit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Harus cari halaman manual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Tidak ter-link ke Batch/Produk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Saat komplain: cari data jam-jaman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Risiko hilang jika buku rusak/basah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3291840"/>
            <a:ext cx="274320" cy="0"/>
          </a:xfrm>
          <a:prstGeom prst="line">
            <a:avLst/>
          </a:prstGeom>
          <a:noFill/>
          <a:ln w="25400">
            <a:solidFill>
              <a:srgbClr val="00C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91072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91072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00C8E8">
              <a:alpha val="8000"/>
            </a:srgbClr>
          </a:solidFill>
          <a:ln w="6350">
            <a:solidFill>
              <a:srgbClr val="00C8E8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SQIS — Sample ID + Tracking Kadar Air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28232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Search: BSK-002-16082026-01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65392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Data ditemukan instan —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65392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09:03 | Kadar Air: 2.55%  ✓ OK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65392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11:20 | Kadar Air: 3.20%  ✓ OK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65392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13:45 | Kadar Air: 3.80%  ⚠ WARN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565392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| Kadar Air: 3.10%  ✓ OK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65392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— — — — — — — — — — —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65392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Terhubung ke Batch &amp; Produk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565392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Histori instan via Sample ID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65392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Siap untuk traceability &amp; komplain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36792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Text 79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 Visual 4: Overlap Shift &amp; Handover Logbook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tangan Serah Terima → Modul Overlap Shift Digital + E-Signature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EF4444">
              <a:alpha val="8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Catatan Tangan Serah Terima Shift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475569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1 → Shift 2  |  16 Agustus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- - - - - - - - - - - - -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 breakdown, tunggu maint...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 M5 NG sdh dihentikan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Sampel akhir belum diambil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TTD: ____________________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- - - - - - - - - - - - -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Tulisan tidak terbaca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Informasi tidak lengkap/bias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Tidak ada verifikasi digital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43600" y="3291840"/>
            <a:ext cx="274320" cy="0"/>
          </a:xfrm>
          <a:prstGeom prst="line">
            <a:avLst/>
          </a:prstGeom>
          <a:noFill/>
          <a:ln w="25400">
            <a:solidFill>
              <a:srgbClr val="00C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291072" y="640080"/>
            <a:ext cx="5623560" cy="5715000"/>
          </a:xfrm>
          <a:prstGeom prst="rect">
            <a:avLst>
              <a:gd name="adj" fmla="val 1626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91072" y="640080"/>
            <a:ext cx="5623560" cy="411480"/>
          </a:xfrm>
          <a:prstGeom prst="rect">
            <a:avLst>
              <a:gd name="adj" fmla="val 17778"/>
            </a:avLst>
          </a:prstGeom>
          <a:solidFill>
            <a:srgbClr val="2563EB">
              <a:alpha val="8000"/>
            </a:srgbClr>
          </a:solidFill>
          <a:ln w="635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66751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SQIS — Modul Overlap Shift Digital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28232" y="1143000"/>
            <a:ext cx="5349240" cy="5029200"/>
          </a:xfrm>
          <a:prstGeom prst="rect">
            <a:avLst>
              <a:gd name="adj" fmla="val 1091"/>
            </a:avLst>
          </a:prstGeom>
          <a:solidFill>
            <a:srgbClr val="030F1F"/>
          </a:solidFill>
          <a:ln w="381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1234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Inspector: Siti Rahayu | NIK: 3001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65392" y="1691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Masuk: Shift 2  |  14:00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65392" y="2148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— — — — — — — — — — —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565392" y="2606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🔧 M3 breakdown — Tiket #TKT-0821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65392" y="3063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Coding M5 NG — Pending verifikasi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565392" y="35204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🧪 Sampel akhir belum diambil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65392" y="39776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Delegasi ke Shift 2 —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65392" y="44348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— — — — — — — — — — —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565392" y="48920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✍️ E-Signature: Siti Rahayu ✓ Verified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65392" y="534924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Serah terima terstruktur &amp; ter-log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55664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Text 79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 Aplikasi SQIS — Feature Interactive Hub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modul terintegrasi — klik kartu untuk navigasi ke detail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594360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KLIK KARTU FITUR UNTUK NAVIGASI KE SLIDE DETAIL 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89611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896112"/>
            <a:ext cx="1005840" cy="1005840"/>
          </a:xfrm>
          <a:prstGeom prst="rect">
            <a:avLst>
              <a:gd name="adj" fmla="val 7273"/>
            </a:avLst>
          </a:prstGeom>
          <a:solidFill>
            <a:srgbClr val="06B6D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9875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11480" y="1975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QC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2313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semua lini &amp; mesin produksi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3227832"/>
            <a:ext cx="3200400" cy="27432"/>
          </a:xfrm>
          <a:prstGeom prst="rect">
            <a:avLst>
              <a:gd name="adj" fmla="val 6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Detail →</a:t>
            </a:r>
            <a:endParaRPr lang="en-US" sz="750" dirty="0"/>
          </a:p>
        </p:txBody>
      </p:sp>
      <p:sp>
        <p:nvSpPr>
          <p:cNvPr id="37" name="Shape 35">
            <a:hlinkClick r:id="rId1" tooltip="" action="ppaction://hlinksldjump"/>
          </p:cNvPr>
          <p:cNvSpPr/>
          <p:nvPr/>
        </p:nvSpPr>
        <p:spPr>
          <a:xfrm>
            <a:off x="274320" y="896112"/>
            <a:ext cx="3749040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89611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51960" y="896112"/>
            <a:ext cx="1005840" cy="1005840"/>
          </a:xfrm>
          <a:prstGeom prst="rect">
            <a:avLst>
              <a:gd name="adj" fmla="val 7273"/>
            </a:avLst>
          </a:prstGeom>
          <a:solidFill>
            <a:srgbClr val="2563EB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9875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🔷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4389120" y="1975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QR Code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89120" y="2313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untuk load data batch &amp; produk otomatis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89120" y="3227832"/>
            <a:ext cx="3200400" cy="27432"/>
          </a:xfrm>
          <a:prstGeom prst="rect">
            <a:avLst>
              <a:gd name="adj" fmla="val 6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Detail →</a:t>
            </a:r>
            <a:endParaRPr lang="en-US" sz="750" dirty="0"/>
          </a:p>
        </p:txBody>
      </p:sp>
      <p:sp>
        <p:nvSpPr>
          <p:cNvPr id="45" name="Shape 43">
            <a:hlinkClick r:id="rId2" tooltip="" action="ppaction://hlinksldjump"/>
          </p:cNvPr>
          <p:cNvSpPr/>
          <p:nvPr/>
        </p:nvSpPr>
        <p:spPr>
          <a:xfrm>
            <a:off x="4251960" y="896112"/>
            <a:ext cx="3749040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89611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0" y="896112"/>
            <a:ext cx="1005840" cy="1005840"/>
          </a:xfrm>
          <a:prstGeom prst="rect">
            <a:avLst>
              <a:gd name="adj" fmla="val 7273"/>
            </a:avLst>
          </a:prstGeom>
          <a:solidFill>
            <a:srgbClr val="8B5CF6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9875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8366760" y="19751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Supervisor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66760" y="23134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monitoring &amp; persetujuan e-signature digital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366760" y="3227832"/>
            <a:ext cx="3200400" cy="27432"/>
          </a:xfrm>
          <a:prstGeom prst="rect">
            <a:avLst>
              <a:gd name="adj" fmla="val 6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3273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Detail →</a:t>
            </a:r>
            <a:endParaRPr lang="en-US" sz="750" dirty="0"/>
          </a:p>
        </p:txBody>
      </p:sp>
      <p:sp>
        <p:nvSpPr>
          <p:cNvPr id="53" name="Shape 51">
            <a:hlinkClick r:id="rId3" tooltip="" action="ppaction://hlinksldjump"/>
          </p:cNvPr>
          <p:cNvSpPr/>
          <p:nvPr/>
        </p:nvSpPr>
        <p:spPr>
          <a:xfrm>
            <a:off x="8229600" y="896112"/>
            <a:ext cx="3749040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63931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74320" y="3639312"/>
            <a:ext cx="1005840" cy="1005840"/>
          </a:xfrm>
          <a:prstGeom prst="rect">
            <a:avLst>
              <a:gd name="adj" fmla="val 7273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7307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411480" y="4718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ID &amp; Kadar Air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11480" y="5056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sampel &amp; histori pengukuran kadar air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" y="5971032"/>
            <a:ext cx="3200400" cy="27432"/>
          </a:xfrm>
          <a:prstGeom prst="rect">
            <a:avLst>
              <a:gd name="adj" fmla="val 6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6016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Detail →</a:t>
            </a:r>
            <a:endParaRPr lang="en-US" sz="750" dirty="0"/>
          </a:p>
        </p:txBody>
      </p:sp>
      <p:sp>
        <p:nvSpPr>
          <p:cNvPr id="61" name="Shape 59">
            <a:hlinkClick r:id="rId4" tooltip="" action="ppaction://hlinksldjump"/>
          </p:cNvPr>
          <p:cNvSpPr/>
          <p:nvPr/>
        </p:nvSpPr>
        <p:spPr>
          <a:xfrm>
            <a:off x="274320" y="3639312"/>
            <a:ext cx="3749040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51960" y="363931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251960" y="3639312"/>
            <a:ext cx="1005840" cy="1005840"/>
          </a:xfrm>
          <a:prstGeom prst="rect">
            <a:avLst>
              <a:gd name="adj" fmla="val 7273"/>
            </a:avLst>
          </a:prstGeom>
          <a:solidFill>
            <a:srgbClr val="F59E0B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51960" y="37307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4389120" y="4718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Laporan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389120" y="5056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PDF/Excel otomatis per shift atau periodik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89120" y="5971032"/>
            <a:ext cx="3200400" cy="27432"/>
          </a:xfrm>
          <a:prstGeom prst="rect">
            <a:avLst>
              <a:gd name="adj" fmla="val 6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0" y="6016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Detail →</a:t>
            </a:r>
            <a:endParaRPr lang="en-US" sz="750" dirty="0"/>
          </a:p>
        </p:txBody>
      </p:sp>
      <p:sp>
        <p:nvSpPr>
          <p:cNvPr id="69" name="Shape 67">
            <a:hlinkClick r:id="rId5" tooltip="" action="ppaction://hlinksldjump"/>
          </p:cNvPr>
          <p:cNvSpPr/>
          <p:nvPr/>
        </p:nvSpPr>
        <p:spPr>
          <a:xfrm>
            <a:off x="4251960" y="3639312"/>
            <a:ext cx="3749040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0" y="3639312"/>
            <a:ext cx="3749040" cy="2514600"/>
          </a:xfrm>
          <a:prstGeom prst="rect">
            <a:avLst>
              <a:gd name="adj" fmla="val 3636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229600" y="3639312"/>
            <a:ext cx="1005840" cy="1005840"/>
          </a:xfrm>
          <a:prstGeom prst="rect">
            <a:avLst>
              <a:gd name="adj" fmla="val 7273"/>
            </a:avLst>
          </a:prstGeom>
          <a:solidFill>
            <a:srgbClr val="EF4444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29600" y="37307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73" name="Text 71"/>
          <p:cNvSpPr/>
          <p:nvPr/>
        </p:nvSpPr>
        <p:spPr>
          <a:xfrm>
            <a:off x="8366760" y="4718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366760" y="5056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lengkap semua aksi pengguna + e-signature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66760" y="5971032"/>
            <a:ext cx="3200400" cy="27432"/>
          </a:xfrm>
          <a:prstGeom prst="rect">
            <a:avLst>
              <a:gd name="adj" fmla="val 6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66760" y="60167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Detail →</a:t>
            </a:r>
            <a:endParaRPr lang="en-US" sz="750" dirty="0"/>
          </a:p>
        </p:txBody>
      </p:sp>
      <p:sp>
        <p:nvSpPr>
          <p:cNvPr id="77" name="Shape 75">
            <a:hlinkClick r:id="rId6" tooltip="" action="ppaction://hlinksldjump"/>
          </p:cNvPr>
          <p:cNvSpPr/>
          <p:nvPr/>
        </p:nvSpPr>
        <p:spPr>
          <a:xfrm>
            <a:off x="8229600" y="3639312"/>
            <a:ext cx="3749040" cy="25146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20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74536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 &amp; Hak Akses Pengguna (Role Access)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 alur sistem + matriks role access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2743200" cy="1417320"/>
          </a:xfrm>
          <a:prstGeom prst="rect">
            <a:avLst>
              <a:gd name="adj" fmla="val 6452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143000" y="749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1115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 NIK + Password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063240" y="960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291840" y="594360"/>
            <a:ext cx="2743200" cy="1417320"/>
          </a:xfrm>
          <a:prstGeom prst="rect">
            <a:avLst>
              <a:gd name="adj" fmla="val 6452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160520" y="749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60520" y="1115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 lapangan real-time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80760" y="960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309360" y="594360"/>
            <a:ext cx="2743200" cy="1417320"/>
          </a:xfrm>
          <a:prstGeom prst="rect">
            <a:avLst>
              <a:gd name="adj" fmla="val 6452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178040" y="749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78040" y="1115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e-signature supervisor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98280" y="960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326880" y="594360"/>
            <a:ext cx="2743200" cy="1417320"/>
          </a:xfrm>
          <a:prstGeom prst="rect">
            <a:avLst>
              <a:gd name="adj" fmla="val 6452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32688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10195560" y="749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195560" y="1115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&amp; arsip otomatis cloud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" y="2176272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MATRIKS HAK AKSES PENGGUNA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2468880"/>
            <a:ext cx="11640312" cy="411480"/>
          </a:xfrm>
          <a:prstGeom prst="rect">
            <a:avLst>
              <a:gd name="adj" fmla="val 22222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2468880"/>
            <a:ext cx="11640312" cy="411480"/>
          </a:xfrm>
          <a:prstGeom prst="rect">
            <a:avLst>
              <a:gd name="adj" fmla="val 13333"/>
            </a:avLst>
          </a:prstGeom>
          <a:solidFill>
            <a:srgbClr val="0A1F3D"/>
          </a:solidFill>
          <a:ln w="5080">
            <a:solidFill>
              <a:srgbClr val="00C8E8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6032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0624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03504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63840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692640" y="248716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Laporan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2944368"/>
            <a:ext cx="11640312" cy="685800"/>
          </a:xfrm>
          <a:prstGeom prst="rect">
            <a:avLst>
              <a:gd name="adj" fmla="val 13333"/>
            </a:avLst>
          </a:prstGeom>
          <a:solidFill>
            <a:srgbClr val="0A1F3D"/>
          </a:solidFill>
          <a:ln w="6350">
            <a:solidFill>
              <a:srgbClr val="4755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274320" y="29626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Inspector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560320" y="29626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206240" y="29626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Input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35040" y="29626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863840" y="29626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Only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692640" y="2962656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4320" y="3694176"/>
            <a:ext cx="11640312" cy="685800"/>
          </a:xfrm>
          <a:prstGeom prst="rect">
            <a:avLst>
              <a:gd name="adj" fmla="val 13333"/>
            </a:avLst>
          </a:prstGeom>
          <a:solidFill>
            <a:srgbClr val="071020"/>
          </a:solidFill>
          <a:ln w="6350">
            <a:solidFill>
              <a:srgbClr val="4755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74320" y="37124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QC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560320" y="371246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206240" y="37124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035040" y="37124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Approve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863840" y="37124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692640" y="3712464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74320" y="4443984"/>
            <a:ext cx="11640312" cy="685800"/>
          </a:xfrm>
          <a:prstGeom prst="rect">
            <a:avLst>
              <a:gd name="adj" fmla="val 13333"/>
            </a:avLst>
          </a:prstGeom>
          <a:solidFill>
            <a:srgbClr val="0A1F3D"/>
          </a:solidFill>
          <a:ln w="6350">
            <a:solidFill>
              <a:srgbClr val="4755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74320" y="44622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Produksi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560320" y="44622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206240" y="4462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View Status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035040" y="4462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863840" y="4462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Only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692640" y="4462272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5193792"/>
            <a:ext cx="11640312" cy="685800"/>
          </a:xfrm>
          <a:prstGeom prst="rect">
            <a:avLst>
              <a:gd name="adj" fmla="val 13333"/>
            </a:avLst>
          </a:prstGeom>
          <a:solidFill>
            <a:srgbClr val="071020"/>
          </a:solidFill>
          <a:ln w="6350">
            <a:solidFill>
              <a:srgbClr val="4755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74320" y="5212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Sistem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2560320" y="5212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206240" y="5212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035040" y="5212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863840" y="5212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692640" y="521208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127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Admin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20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693408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7" name="Text 105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Monitoring &amp; Dashboard Supervisor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lini produksi &amp; tren temuan 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274320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658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27432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Inspeksi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594360"/>
            <a:ext cx="274320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658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329184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9360" y="594360"/>
            <a:ext cx="274320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658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630936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OFF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326880" y="594360"/>
            <a:ext cx="274320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326880" y="6583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3800" dirty="0"/>
          </a:p>
        </p:txBody>
      </p:sp>
      <p:sp>
        <p:nvSpPr>
          <p:cNvPr id="40" name="Text 38"/>
          <p:cNvSpPr/>
          <p:nvPr/>
        </p:nvSpPr>
        <p:spPr>
          <a:xfrm>
            <a:off x="9326880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Selesai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74320" y="18288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MONITORING LINE REAL-TIME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084832"/>
            <a:ext cx="6675120" cy="3840480"/>
          </a:xfrm>
          <a:prstGeom prst="rect">
            <a:avLst>
              <a:gd name="adj" fmla="val 2381"/>
            </a:avLst>
          </a:prstGeom>
          <a:solidFill>
            <a:srgbClr val="0A1F3D"/>
          </a:solidFill>
          <a:ln w="6350">
            <a:solidFill>
              <a:srgbClr val="4755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65760" y="2148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28016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91840" y="2148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480560" y="2148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2120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2423160"/>
            <a:ext cx="6492240" cy="0"/>
          </a:xfrm>
          <a:prstGeom prst="line">
            <a:avLst/>
          </a:prstGeom>
          <a:noFill/>
          <a:ln w="6350">
            <a:solidFill>
              <a:srgbClr val="475569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578608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280160" y="25786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Biskuit Susu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91840" y="25786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480560" y="257860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212080" y="25786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Selesai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3291840"/>
            <a:ext cx="6675120" cy="713232"/>
          </a:xfrm>
          <a:prstGeom prst="rect">
            <a:avLst/>
          </a:prstGeom>
          <a:solidFill>
            <a:srgbClr val="030F1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3832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280160" y="33832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Cokelat Kering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291840" y="338328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RAN675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480560" y="338328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212080" y="33832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Berjalan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5760" y="4187952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280160" y="41879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 Stik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91840" y="418795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WPS75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480560" y="418795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212080" y="418795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Berjalan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901184"/>
            <a:ext cx="6675120" cy="713232"/>
          </a:xfrm>
          <a:prstGeom prst="rect">
            <a:avLst/>
          </a:prstGeom>
          <a:solidFill>
            <a:srgbClr val="030F1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992624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280160" y="499262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291840" y="499262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480560" y="499262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212080" y="499262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Belum Mulai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223760" y="18288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 NG — 12 JAM TERAKHIR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223760" y="2084832"/>
            <a:ext cx="4663440" cy="3840480"/>
          </a:xfrm>
          <a:prstGeom prst="rect">
            <a:avLst>
              <a:gd name="adj" fmla="val 2381"/>
            </a:avLst>
          </a:prstGeom>
          <a:solidFill>
            <a:srgbClr val="0A1F3D"/>
          </a:solidFill>
          <a:ln w="6350">
            <a:solidFill>
              <a:srgbClr val="47556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360920" y="3215640"/>
            <a:ext cx="301752" cy="1950720"/>
          </a:xfrm>
          <a:prstGeom prst="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6092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9h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26680" y="5166360"/>
            <a:ext cx="301752" cy="0"/>
          </a:xfrm>
          <a:prstGeom prst="rect">
            <a:avLst>
              <a:gd name="adj" fmla="val Infinity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2668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9h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092440" y="2240280"/>
            <a:ext cx="301752" cy="2926080"/>
          </a:xfrm>
          <a:prstGeom prst="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9244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458200" y="4191000"/>
            <a:ext cx="301752" cy="975360"/>
          </a:xfrm>
          <a:prstGeom prst="rect">
            <a:avLst>
              <a:gd name="adj" fmla="val 12121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5820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10h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8823960" y="3215640"/>
            <a:ext cx="301752" cy="1950720"/>
          </a:xfrm>
          <a:prstGeom prst="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2396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11h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9189720" y="5166360"/>
            <a:ext cx="301752" cy="0"/>
          </a:xfrm>
          <a:prstGeom prst="rect">
            <a:avLst>
              <a:gd name="adj" fmla="val Infinity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8972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11h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9555480" y="4191000"/>
            <a:ext cx="301752" cy="975360"/>
          </a:xfrm>
          <a:prstGeom prst="rect">
            <a:avLst>
              <a:gd name="adj" fmla="val 12121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55548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12h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9921240" y="5166360"/>
            <a:ext cx="301752" cy="0"/>
          </a:xfrm>
          <a:prstGeom prst="rect">
            <a:avLst>
              <a:gd name="adj" fmla="val Infinity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92124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12h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0287000" y="3215640"/>
            <a:ext cx="301752" cy="1950720"/>
          </a:xfrm>
          <a:prstGeom prst="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28700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10652760" y="4191000"/>
            <a:ext cx="301752" cy="975360"/>
          </a:xfrm>
          <a:prstGeom prst="rect">
            <a:avLst>
              <a:gd name="adj" fmla="val 12121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65276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13h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1018520" y="5166360"/>
            <a:ext cx="301752" cy="0"/>
          </a:xfrm>
          <a:prstGeom prst="rect">
            <a:avLst>
              <a:gd name="adj" fmla="val Infinity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01852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11384280" y="3215640"/>
            <a:ext cx="301752" cy="1950720"/>
          </a:xfrm>
          <a:prstGeom prst="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384280" y="5239512"/>
            <a:ext cx="301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14h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7360920" y="5166360"/>
            <a:ext cx="4389120" cy="0"/>
          </a:xfrm>
          <a:prstGeom prst="line">
            <a:avLst/>
          </a:prstGeom>
          <a:noFill/>
          <a:ln w="6350">
            <a:solidFill>
              <a:srgbClr val="475569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20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12280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0" name="Text 118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Biaya: Cost of Poor Quality (COPQ)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finansial sebelum &amp; sesudah implementasi SQIS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11640312" cy="502920"/>
          </a:xfrm>
          <a:prstGeom prst="rect">
            <a:avLst>
              <a:gd name="adj" fmla="val 18182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640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OF POOR QUALITY (COPQ) — Before vs After SQIS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Inspeksi per Shift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120 menit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15 menit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498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-87%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1618488"/>
            <a:ext cx="11640312" cy="502920"/>
          </a:xfrm>
          <a:prstGeom prst="rect">
            <a:avLst>
              <a:gd name="adj" fmla="val 10909"/>
            </a:avLst>
          </a:prstGeom>
          <a:solidFill>
            <a:srgbClr val="EF4444">
              <a:alpha val="9000"/>
            </a:srgbClr>
          </a:solidFill>
          <a:ln w="381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618488"/>
            <a:ext cx="10185273" cy="502920"/>
          </a:xfrm>
          <a:prstGeom prst="rect">
            <a:avLst>
              <a:gd name="adj" fmla="val 10909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Kertas &amp; Arsip per Bulan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100 % relatif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7240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0 % relatif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14984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-100%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2807208"/>
            <a:ext cx="11640312" cy="502920"/>
          </a:xfrm>
          <a:prstGeom prst="rect">
            <a:avLst>
              <a:gd name="adj" fmla="val 10909"/>
            </a:avLst>
          </a:prstGeom>
          <a:solidFill>
            <a:srgbClr val="EF4444">
              <a:alpha val="9000"/>
            </a:srgbClr>
          </a:solidFill>
          <a:ln w="381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2807208"/>
            <a:ext cx="11640312" cy="502920"/>
          </a:xfrm>
          <a:prstGeom prst="rect">
            <a:avLst>
              <a:gd name="adj" fmla="val 10909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825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ELIMINATED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Failure (Rework)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3776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100 % relatif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25 % relatif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1498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-75%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" y="3995928"/>
            <a:ext cx="11640312" cy="502920"/>
          </a:xfrm>
          <a:prstGeom prst="rect">
            <a:avLst>
              <a:gd name="adj" fmla="val 10909"/>
            </a:avLst>
          </a:prstGeom>
          <a:solidFill>
            <a:srgbClr val="EF4444">
              <a:alpha val="9000"/>
            </a:srgbClr>
          </a:solidFill>
          <a:ln w="381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995928"/>
            <a:ext cx="8730234" cy="502920"/>
          </a:xfrm>
          <a:prstGeom prst="rect">
            <a:avLst>
              <a:gd name="adj" fmla="val 10909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Failure (Komplain)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3776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100 % relatif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7724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5 % relatif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14984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-95%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5184648"/>
            <a:ext cx="11640312" cy="502920"/>
          </a:xfrm>
          <a:prstGeom prst="rect">
            <a:avLst>
              <a:gd name="adj" fmla="val 10909"/>
            </a:avLst>
          </a:prstGeom>
          <a:solidFill>
            <a:srgbClr val="EF4444">
              <a:alpha val="9000"/>
            </a:srgbClr>
          </a:solidFill>
          <a:ln w="381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5184648"/>
            <a:ext cx="11058296" cy="502920"/>
          </a:xfrm>
          <a:prstGeom prst="rect">
            <a:avLst>
              <a:gd name="adj" fmla="val 10909"/>
            </a:avLst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989320"/>
            <a:ext cx="374904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74320" y="60167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87.5%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1645920" y="6099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Reduksi Lead Time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51960" y="5989320"/>
            <a:ext cx="374904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251960" y="60167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5623560" y="6099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Eliminasi Biaya Kertas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9600" y="5989320"/>
            <a:ext cx="3749040" cy="594360"/>
          </a:xfrm>
          <a:prstGeom prst="rect">
            <a:avLst>
              <a:gd name="adj" fmla="val 15385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229600" y="601675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~75%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601200" y="60990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Reduksi Rework Cost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20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31152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Text 85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Bisnis &amp; Proyeksi ROI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Kuantitatif &amp; kualitatif — FSSC 22000 &amp; ISO 22000 ready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2743200" cy="1554480"/>
          </a:xfrm>
          <a:prstGeom prst="rect">
            <a:avLst>
              <a:gd name="adj" fmla="val 5882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640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27432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Paperless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digital menggantikan 3 jenis form kertas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91840" y="594360"/>
            <a:ext cx="2743200" cy="1554480"/>
          </a:xfrm>
          <a:prstGeom prst="rect">
            <a:avLst>
              <a:gd name="adj" fmla="val 5882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91840" y="640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329184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Waktu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120 menit menjadi ~15 menit per shift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594360"/>
            <a:ext cx="2743200" cy="1554480"/>
          </a:xfrm>
          <a:prstGeom prst="rect">
            <a:avLst>
              <a:gd name="adj" fmla="val 5882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9360" y="640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630936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Terpantau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real-time + alert deviasi otomatis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326880" y="594360"/>
            <a:ext cx="2743200" cy="1554480"/>
          </a:xfrm>
          <a:prstGeom prst="rect">
            <a:avLst>
              <a:gd name="adj" fmla="val 5882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326880" y="640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932688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Payback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268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 penghematan biaya operasional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4320" y="22860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MANFAAT KUALITATIF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578608"/>
            <a:ext cx="5943600" cy="3931920"/>
          </a:xfrm>
          <a:prstGeom prst="rect">
            <a:avLst>
              <a:gd name="adj" fmla="val 2326"/>
            </a:avLst>
          </a:prstGeom>
          <a:solidFill>
            <a:srgbClr val="0A1F3D"/>
          </a:solidFill>
          <a:ln w="6350">
            <a:solidFill>
              <a:srgbClr val="0088A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825496"/>
            <a:ext cx="91440" cy="91440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27157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Audit HACCP / FSSC 22000 / ISO 22000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392424"/>
            <a:ext cx="91440" cy="91440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32826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lengkap: bahan baku → produk jadi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959352"/>
            <a:ext cx="91440" cy="91440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84962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Pengurangan dependensi pada individu (key person risk)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91440" cy="91440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4165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supervisor real-time → keputusan lebih cepat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5093208"/>
            <a:ext cx="91440" cy="91440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983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ke QES (Quality Enterprise System)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5660136"/>
            <a:ext cx="91440" cy="91440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5504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Dokumentasi digital memenuhi syarat audit mutu pangan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492240" y="228600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 KUALITAS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492240" y="2578608"/>
            <a:ext cx="539496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92240" y="2578608"/>
            <a:ext cx="914400" cy="1097280"/>
          </a:xfrm>
          <a:prstGeom prst="rect">
            <a:avLst>
              <a:gd name="adj" fmla="val 8000"/>
            </a:avLst>
          </a:prstGeom>
          <a:solidFill>
            <a:srgbClr val="F59E0B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26700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🏅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7498080" y="26700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FSSC 22000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498080" y="29900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System Certification — Audit-ready dengan SQIS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492240" y="3840480"/>
            <a:ext cx="539496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92240" y="3840480"/>
            <a:ext cx="914400" cy="1097280"/>
          </a:xfrm>
          <a:prstGeom prst="rect">
            <a:avLst>
              <a:gd name="adj" fmla="val 8000"/>
            </a:avLst>
          </a:prstGeom>
          <a:solidFill>
            <a:srgbClr val="2563EB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3931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🏅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7498080" y="3931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22000:2018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498080" y="4251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Management System — Traceability &amp; record keeping digital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92240" y="5102352"/>
            <a:ext cx="5394960" cy="1097280"/>
          </a:xfrm>
          <a:prstGeom prst="rect">
            <a:avLst>
              <a:gd name="adj" fmla="val 8333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492240" y="5102352"/>
            <a:ext cx="914400" cy="1097280"/>
          </a:xfrm>
          <a:prstGeom prst="rect">
            <a:avLst>
              <a:gd name="adj" fmla="val 8000"/>
            </a:avLst>
          </a:prstGeom>
          <a:solidFill>
            <a:srgbClr val="22C55E">
              <a:alpha val="1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92240" y="519379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🏅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7498080" y="5193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Principles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498080" y="55138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Analysis — Dokumentasi kontrol titik kritis terpenuhi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50024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Text 95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Implementasi — Fase 0 hingga Fase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minggu — Pilot Lini 1 → Full Rollout → QES Expansion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2286000" cy="411480"/>
          </a:xfrm>
          <a:prstGeom prst="rect">
            <a:avLst>
              <a:gd name="adj" fmla="val 17778"/>
            </a:avLst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1024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33472" y="594360"/>
            <a:ext cx="22860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594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33472" y="1024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W3–6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992624" y="594360"/>
            <a:ext cx="22860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594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92624" y="1024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W7–10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51776" y="594360"/>
            <a:ext cx="22860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51776" y="594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51776" y="1024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W11–14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710928" y="594360"/>
            <a:ext cx="2286000" cy="411480"/>
          </a:xfrm>
          <a:prstGeom prst="rect">
            <a:avLst>
              <a:gd name="adj" fmla="val 17778"/>
            </a:avLst>
          </a:prstGeom>
          <a:solidFill>
            <a:srgbClr val="00C8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10928" y="594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710928" y="1024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W15–16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1298448"/>
            <a:ext cx="2286000" cy="5029200"/>
          </a:xfrm>
          <a:prstGeom prst="rect">
            <a:avLst>
              <a:gd name="adj" fmla="val 4000"/>
            </a:avLst>
          </a:prstGeom>
          <a:solidFill>
            <a:srgbClr val="0A1F3D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1298448"/>
            <a:ext cx="2286000" cy="640080"/>
          </a:xfrm>
          <a:prstGeom prst="rect">
            <a:avLst>
              <a:gd name="adj" fmla="val 11429"/>
            </a:avLst>
          </a:prstGeom>
          <a:solidFill>
            <a:srgbClr val="2563EB">
              <a:alpha val="13000"/>
            </a:srgbClr>
          </a:solidFill>
          <a:ln w="635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1344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Persiapan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74320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38912" y="21579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02996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 &amp; stakeholder alignment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38912" y="34198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291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requirement detail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8912" y="468172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553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infrastruktur server &amp; jaringan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6035040"/>
            <a:ext cx="1920240" cy="27432"/>
          </a:xfrm>
          <a:prstGeom prst="rect">
            <a:avLst>
              <a:gd name="adj" fmla="val 6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33472" y="1298448"/>
            <a:ext cx="2286000" cy="5029200"/>
          </a:xfrm>
          <a:prstGeom prst="rect">
            <a:avLst>
              <a:gd name="adj" fmla="val 4000"/>
            </a:avLst>
          </a:prstGeom>
          <a:solidFill>
            <a:srgbClr val="0A1F3D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633472" y="1298448"/>
            <a:ext cx="2286000" cy="640080"/>
          </a:xfrm>
          <a:prstGeom prst="rect">
            <a:avLst>
              <a:gd name="adj" fmla="val 11429"/>
            </a:avLst>
          </a:prstGeom>
          <a:solidFill>
            <a:srgbClr val="8B5CF6">
              <a:alpha val="13000"/>
            </a:srgbClr>
          </a:solidFill>
          <a:ln w="635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33472" y="1344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633472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W3–6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98064" y="215798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07792" y="202996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&amp; prototyping tablet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98064" y="341985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07792" y="3291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&amp; database development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798064" y="468172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07792" y="4553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 &amp; QA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816352" y="6035040"/>
            <a:ext cx="1920240" cy="27432"/>
          </a:xfrm>
          <a:prstGeom prst="rect">
            <a:avLst>
              <a:gd name="adj" fmla="val 6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92624" y="1298448"/>
            <a:ext cx="2286000" cy="5029200"/>
          </a:xfrm>
          <a:prstGeom prst="rect">
            <a:avLst>
              <a:gd name="adj" fmla="val 4000"/>
            </a:avLst>
          </a:prstGeom>
          <a:solidFill>
            <a:srgbClr val="0A1F3D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992624" y="1298448"/>
            <a:ext cx="2286000" cy="640080"/>
          </a:xfrm>
          <a:prstGeom prst="rect">
            <a:avLst>
              <a:gd name="adj" fmla="val 11429"/>
            </a:avLst>
          </a:prstGeom>
          <a:solidFill>
            <a:srgbClr val="F59E0B">
              <a:alpha val="13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92624" y="1344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Lini 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992624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W7–10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157216" y="215798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66944" y="202996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8 tablet IP65 di lini 1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57216" y="34198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66944" y="3291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QC Inspector &amp; Supervisor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57216" y="46817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66944" y="4553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UAT, parallel run &amp; bug fixing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175504" y="6035040"/>
            <a:ext cx="1920240" cy="27432"/>
          </a:xfrm>
          <a:prstGeom prst="rect">
            <a:avLst>
              <a:gd name="adj" fmla="val 6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351776" y="1298448"/>
            <a:ext cx="2286000" cy="5029200"/>
          </a:xfrm>
          <a:prstGeom prst="rect">
            <a:avLst>
              <a:gd name="adj" fmla="val 4000"/>
            </a:avLst>
          </a:prstGeom>
          <a:solidFill>
            <a:srgbClr val="0A1F3D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7351776" y="1298448"/>
            <a:ext cx="2286000" cy="640080"/>
          </a:xfrm>
          <a:prstGeom prst="rect">
            <a:avLst>
              <a:gd name="adj" fmla="val 11429"/>
            </a:avLst>
          </a:prstGeom>
          <a:solidFill>
            <a:srgbClr val="22C55E">
              <a:alpha val="13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51776" y="1344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7351776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W11–14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7516368" y="215798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26096" y="202996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ke semua lini aktif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516368" y="341985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626096" y="3291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monitoring &amp; support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516368" y="468172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26096" y="4553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run dengan form kertas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534656" y="6035040"/>
            <a:ext cx="1920240" cy="27432"/>
          </a:xfrm>
          <a:prstGeom prst="rect">
            <a:avLst>
              <a:gd name="adj" fmla="val 6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10928" y="1298448"/>
            <a:ext cx="2286000" cy="5029200"/>
          </a:xfrm>
          <a:prstGeom prst="rect">
            <a:avLst>
              <a:gd name="adj" fmla="val 4000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710928" y="1298448"/>
            <a:ext cx="2286000" cy="640080"/>
          </a:xfrm>
          <a:prstGeom prst="rect">
            <a:avLst>
              <a:gd name="adj" fmla="val 11429"/>
            </a:avLst>
          </a:prstGeom>
          <a:solidFill>
            <a:srgbClr val="00C8E8">
              <a:alpha val="13000"/>
            </a:srgbClr>
          </a:solidFill>
          <a:ln w="6350">
            <a:solidFill>
              <a:srgbClr val="00C8E8">
                <a:alpha val="5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710928" y="1344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QES Expansion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710928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W15–16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9875520" y="2157984"/>
            <a:ext cx="73152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985248" y="202996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ke QES/ERP/SAP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9875520" y="3419856"/>
            <a:ext cx="73152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985248" y="32918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&amp; reporting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9875520" y="4681728"/>
            <a:ext cx="73152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985248" y="4553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cycle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893808" y="6035040"/>
            <a:ext cx="1920240" cy="27432"/>
          </a:xfrm>
          <a:prstGeom prst="rect">
            <a:avLst>
              <a:gd name="adj" fmla="val 66667"/>
            </a:avLst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74320" y="6144768"/>
            <a:ext cx="3749040" cy="438912"/>
          </a:xfrm>
          <a:prstGeom prst="rect">
            <a:avLst>
              <a:gd name="adj" fmla="val 20833"/>
            </a:avLst>
          </a:prstGeom>
          <a:solidFill>
            <a:srgbClr val="071428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274320" y="6172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Minggu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2103120" y="6217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Durasi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251960" y="6144768"/>
            <a:ext cx="3749040" cy="438912"/>
          </a:xfrm>
          <a:prstGeom prst="rect">
            <a:avLst>
              <a:gd name="adj" fmla="val 20833"/>
            </a:avLst>
          </a:prstGeom>
          <a:solidFill>
            <a:srgbClr val="071428"/>
          </a:solidFill>
          <a:ln w="635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251960" y="6172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Fase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6080760" y="6217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Bertahap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229600" y="6144768"/>
            <a:ext cx="3749040" cy="438912"/>
          </a:xfrm>
          <a:prstGeom prst="rect">
            <a:avLst>
              <a:gd name="adj" fmla="val 20833"/>
            </a:avLst>
          </a:prstGeom>
          <a:solidFill>
            <a:srgbClr val="071428"/>
          </a:solidFill>
          <a:ln w="635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8229600" y="6172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Lini 1 → Semua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10058400" y="6217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→ Full Rollout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168896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28776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0" name="Text 128">
            <a:hlinkClick r:id="rId1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2540">
            <a:solidFill>
              <a:srgbClr val="00C8E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71428"/>
          </a:solidFill>
          <a:ln w="6350">
            <a:solidFill>
              <a:srgbClr val="00C8E8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91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1F3D"/>
          </a:solidFill>
          <a:ln w="10160">
            <a:solidFill>
              <a:srgbClr val="00C8E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Penutup, Alokasi Resource &amp; Simulasi Live Demo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E8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Call to Action — SQIS Transformasi QC Digital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594360"/>
            <a:ext cx="3749040" cy="868680"/>
          </a:xfrm>
          <a:prstGeom prst="rect">
            <a:avLst>
              <a:gd name="adj" fmla="val 10526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621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51560" y="658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Mendalam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" y="9326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 5M+1E, VSM, DMAIC framework sebagai landasan ilmiah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51960" y="594360"/>
            <a:ext cx="3749040" cy="868680"/>
          </a:xfrm>
          <a:prstGeom prst="rect">
            <a:avLst>
              <a:gd name="adj" fmla="val 10526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51960" y="621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029200" y="658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Digital Nyata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9326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form transformasi, 6 modul terintegrasi, UI tablet field-proof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0" y="594360"/>
            <a:ext cx="3749040" cy="868680"/>
          </a:xfrm>
          <a:prstGeom prst="rect">
            <a:avLst>
              <a:gd name="adj" fmla="val 10526"/>
            </a:avLst>
          </a:prstGeom>
          <a:solidFill>
            <a:srgbClr val="0A1F3D"/>
          </a:solidFill>
          <a:ln w="6350">
            <a:solidFill>
              <a:srgbClr val="00C8E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0" y="621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006840" y="658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Terukur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06840" y="9326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87.5% reduksi lead time, 100% paperless, payback &lt; 6 bulan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74320" y="1600200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ALOKASI RESOURCE — KEBUTUHAN IMPLEMENTASI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1856232"/>
            <a:ext cx="11640312" cy="384048"/>
          </a:xfrm>
          <a:prstGeom prst="rect">
            <a:avLst>
              <a:gd name="adj" fmla="val 14286"/>
            </a:avLst>
          </a:prstGeom>
          <a:solidFill>
            <a:srgbClr val="0A1F3D"/>
          </a:solidFill>
          <a:ln w="5080">
            <a:solidFill>
              <a:srgbClr val="00C8E8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8836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Resource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926080" y="1883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Spesifikasi Kebutuhan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583680" y="1883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955280" y="1883664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&amp; Keterangan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2304288"/>
            <a:ext cx="11640312" cy="594360"/>
          </a:xfrm>
          <a:prstGeom prst="rect">
            <a:avLst/>
          </a:prstGeom>
          <a:solidFill>
            <a:srgbClr val="0A1F3D"/>
          </a:solidFill>
          <a:ln w="3810">
            <a:solidFill>
              <a:srgbClr val="475569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2350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Lapangan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26080" y="23500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Industrial Waterproof (IP65)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83680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Unit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955280" y="2350008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 QC langsung di lini packaging basah/lembap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2962656"/>
            <a:ext cx="11640312" cy="594360"/>
          </a:xfrm>
          <a:prstGeom prst="rect">
            <a:avLst/>
          </a:prstGeom>
          <a:solidFill>
            <a:srgbClr val="030F1F"/>
          </a:solidFill>
          <a:ln w="3810">
            <a:solidFill>
              <a:srgbClr val="475569">
                <a:alpha val="2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008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Manajemen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926080" y="30083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LED Display 55"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583680" y="30083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Unit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55280" y="3008376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Live Monitoring Supervisor &amp; Production Control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3621024"/>
            <a:ext cx="11640312" cy="594360"/>
          </a:xfrm>
          <a:prstGeom prst="rect">
            <a:avLst/>
          </a:prstGeom>
          <a:solidFill>
            <a:srgbClr val="0A1F3D"/>
          </a:solidFill>
          <a:ln w="3810">
            <a:solidFill>
              <a:srgbClr val="475569">
                <a:alpha val="2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66674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Network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926080" y="36667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 Wi-Fi Industrial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366674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Unit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955280" y="3666744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Konektivitas real-time data sync di pabrik tanpa putus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4279392"/>
            <a:ext cx="11640312" cy="594360"/>
          </a:xfrm>
          <a:prstGeom prst="rect">
            <a:avLst/>
          </a:prstGeom>
          <a:solidFill>
            <a:srgbClr val="030F1F"/>
          </a:solidFill>
          <a:ln w="3810">
            <a:solidFill>
              <a:srgbClr val="475569">
                <a:alpha val="2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3251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&amp; Database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26080" y="43251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Database Local / Cloud Hybrid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83680" y="43251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Package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955280" y="4325112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Penyimpanan Audit Trail dan arsip digital terenkripsi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74320" y="4937760"/>
            <a:ext cx="11640312" cy="594360"/>
          </a:xfrm>
          <a:prstGeom prst="rect">
            <a:avLst/>
          </a:prstGeom>
          <a:solidFill>
            <a:srgbClr val="0A1F3D"/>
          </a:solidFill>
          <a:ln w="3810">
            <a:solidFill>
              <a:srgbClr val="475569">
                <a:alpha val="2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983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Kepatuhan Standard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926080" y="4983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 Validasi HACCP / ISO 22000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583680" y="4983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955280" y="4983480"/>
            <a:ext cx="4050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Memastikan log digital memenuhi syarat aturan audit mutu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74320" y="5687568"/>
            <a:ext cx="11640312" cy="658368"/>
          </a:xfrm>
          <a:prstGeom prst="rect">
            <a:avLst>
              <a:gd name="adj" fmla="val 13889"/>
            </a:avLst>
          </a:prstGeom>
          <a:solidFill>
            <a:srgbClr val="0A1F3D"/>
          </a:solidFill>
          <a:ln w="10160">
            <a:solidFill>
              <a:srgbClr val="00C8E8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" y="5687568"/>
            <a:ext cx="5486400" cy="658368"/>
          </a:xfrm>
          <a:prstGeom prst="rect">
            <a:avLst>
              <a:gd name="adj" fmla="val 13889"/>
            </a:avLst>
          </a:prstGeom>
          <a:solidFill>
            <a:srgbClr val="00C8E8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74243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SQIS adalah langkah nyata transformasi QC digital. Kami memohon dukungan manajemen untuk alokasi resource hardware tablet dan infrastruktur pendukung.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326880" y="5797296"/>
            <a:ext cx="2560320" cy="411480"/>
          </a:xfrm>
          <a:prstGeom prst="rect">
            <a:avLst>
              <a:gd name="adj" fmla="val 17778"/>
            </a:avLst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6" name="Text 74">
            <a:hlinkClick r:id="rId1" tooltip="" action="ppaction://hlinksldjump"/>
          </p:cNvPr>
          <p:cNvSpPr/>
          <p:nvPr/>
        </p:nvSpPr>
        <p:spPr>
          <a:xfrm>
            <a:off x="9326880" y="579729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020C1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⚡ Lihat Hub DMAIC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0F1F"/>
          </a:solidFill>
          <a:ln w="3810">
            <a:solidFill>
              <a:srgbClr val="00C8E8">
                <a:alpha val="1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430000" y="65196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20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02920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14807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6694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8581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0468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2356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4243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86130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8017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9904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1792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33679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45566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7453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93408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12280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931152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50024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168896" y="6592824"/>
            <a:ext cx="73152" cy="7315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287768" y="6592824"/>
            <a:ext cx="182880" cy="73152"/>
          </a:xfrm>
          <a:prstGeom prst="ellipse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9" name="Text 97">
            <a:hlinkClick r:id="rId2" tooltip="" action="ppaction://hlinksldjump"/>
          </p:cNvPr>
          <p:cNvSpPr/>
          <p:nvPr/>
        </p:nvSpPr>
        <p:spPr>
          <a:xfrm>
            <a:off x="10972800" y="65196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0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Hub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Smart Quality Inspection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Quality Inspection System (SQIS) — Presentasi 20 Slide</dc:title>
  <dc:subject>SQIS — Digitalisasi Quality Control</dc:subject>
  <dc:creator>Tim QC Inisiator</dc:creator>
  <cp:lastModifiedBy>Tim QC Inisiator</cp:lastModifiedBy>
  <cp:revision>1</cp:revision>
  <dcterms:created xsi:type="dcterms:W3CDTF">2026-08-26T14:16:29Z</dcterms:created>
  <dcterms:modified xsi:type="dcterms:W3CDTF">2026-08-26T14:16:29Z</dcterms:modified>
</cp:coreProperties>
</file>